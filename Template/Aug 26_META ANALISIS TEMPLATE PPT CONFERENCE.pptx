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Encode Sans"/>
      <p:regular r:id="rId12"/>
      <p:bold r:id="rId13"/>
    </p:embeddedFont>
    <p:embeddedFont>
      <p:font typeface="Assistant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/cSKAtompPOd4Yz7TF6kycOoE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EncodeSans-bold.fntdata"/><Relationship Id="rId12" Type="http://schemas.openxmlformats.org/officeDocument/2006/relationships/font" Target="fonts/Encode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ssistant-bold.fntdata"/><Relationship Id="rId14" Type="http://schemas.openxmlformats.org/officeDocument/2006/relationships/font" Target="fonts/Assistant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id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p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1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6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16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  <p:pic>
        <p:nvPicPr>
          <p:cNvPr id="60" name="Google Shape;6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>
            <p:ph type="ctrTitle"/>
          </p:nvPr>
        </p:nvSpPr>
        <p:spPr>
          <a:xfrm>
            <a:off x="328084" y="1418697"/>
            <a:ext cx="1154641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b="1" lang="id-ID" sz="3800"/>
              <a:t>YOUR TITLE</a:t>
            </a:r>
            <a:endParaRPr sz="3800"/>
          </a:p>
        </p:txBody>
      </p:sp>
      <p:sp>
        <p:nvSpPr>
          <p:cNvPr id="66" name="Google Shape;66;p1"/>
          <p:cNvSpPr txBox="1"/>
          <p:nvPr>
            <p:ph idx="1" type="subTitle"/>
          </p:nvPr>
        </p:nvSpPr>
        <p:spPr>
          <a:xfrm>
            <a:off x="718868" y="3832076"/>
            <a:ext cx="10754263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i="1" lang="id-ID" sz="2800"/>
              <a:t>YOUR TEAM</a:t>
            </a:r>
            <a:endParaRPr sz="2800"/>
          </a:p>
        </p:txBody>
      </p:sp>
      <p:sp>
        <p:nvSpPr>
          <p:cNvPr id="67" name="Google Shape;67;p1"/>
          <p:cNvSpPr txBox="1"/>
          <p:nvPr/>
        </p:nvSpPr>
        <p:spPr>
          <a:xfrm>
            <a:off x="3186023" y="4926051"/>
            <a:ext cx="55755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baseline="30000" i="0" lang="id-ID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id-ID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FACULTY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/>
          </a:p>
        </p:txBody>
      </p:sp>
      <p:pic>
        <p:nvPicPr>
          <p:cNvPr descr="A picture containing indoor&#10;&#10;Description automatically generated" id="75" name="Google Shape;7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5609" y="4008236"/>
            <a:ext cx="2743199" cy="1789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76" name="Google Shape;76;p2"/>
          <p:cNvPicPr preferRelativeResize="0"/>
          <p:nvPr>
            <p:ph idx="4294967295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311" y="2128946"/>
            <a:ext cx="4982400" cy="2863500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fadeDir="5400012" kx="0" rotWithShape="0" algn="bl" stA="38000" stPos="0" sy="-100000" ky="0"/>
          </a:effectLst>
        </p:spPr>
      </p:pic>
      <p:pic>
        <p:nvPicPr>
          <p:cNvPr descr="Map&#10;&#10;Description automatically generated" id="77" name="Google Shape;7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1789" y="771509"/>
            <a:ext cx="5514870" cy="271078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 txBox="1"/>
          <p:nvPr/>
        </p:nvSpPr>
        <p:spPr>
          <a:xfrm>
            <a:off x="7420708" y="638070"/>
            <a:ext cx="3228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id-ID" sz="9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#2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6441518" y="2129099"/>
            <a:ext cx="375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-ID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LOREM IPSUM BALBALB</a:t>
            </a:r>
            <a:endParaRPr b="1" i="0" sz="1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&#10;&#10;Description automatically generated" id="80" name="Google Shape;8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52421" y="2340093"/>
            <a:ext cx="976366" cy="77104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 txBox="1"/>
          <p:nvPr/>
        </p:nvSpPr>
        <p:spPr>
          <a:xfrm>
            <a:off x="4038286" y="3803824"/>
            <a:ext cx="3136800" cy="369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-ID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LOREM IPSUM</a:t>
            </a:r>
            <a:endParaRPr b="0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4038284" y="4791911"/>
            <a:ext cx="3128400" cy="646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id-ID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LOREM IPSUM</a:t>
            </a:r>
            <a:endParaRPr b="0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&#10;&#10;Description automatically generated" id="83" name="Google Shape;8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4380002">
            <a:off x="9204289" y="3621258"/>
            <a:ext cx="976367" cy="77104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 txBox="1"/>
          <p:nvPr/>
        </p:nvSpPr>
        <p:spPr>
          <a:xfrm>
            <a:off x="8275340" y="5470174"/>
            <a:ext cx="3756300" cy="646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id-ID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LOREM IPSUM</a:t>
            </a:r>
            <a:endParaRPr b="0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285222" y="939760"/>
            <a:ext cx="3604800" cy="644700"/>
          </a:xfrm>
          <a:prstGeom prst="chevron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4472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d-ID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/>
          </a:p>
        </p:txBody>
      </p:sp>
      <p:pic>
        <p:nvPicPr>
          <p:cNvPr descr="Diagram&#10;&#10;Description automatically generated" id="93" name="Google Shape;93;p3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52" y="1038741"/>
            <a:ext cx="4823100" cy="55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 txBox="1"/>
          <p:nvPr/>
        </p:nvSpPr>
        <p:spPr>
          <a:xfrm>
            <a:off x="6877318" y="1274755"/>
            <a:ext cx="2182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-ID" sz="1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Keyword: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•"/>
            </a:pPr>
            <a:r>
              <a:rPr b="0" i="0" lang="id-ID" sz="1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ABC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id-ID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id-ID" sz="1800" u="none" cap="none" strike="noStrike">
                <a:solidFill>
                  <a:srgbClr val="0C0C0C"/>
                </a:solidFill>
                <a:latin typeface="Encode Sans"/>
                <a:ea typeface="Encode Sans"/>
                <a:cs typeface="Encode Sans"/>
                <a:sym typeface="Encode Sans"/>
              </a:rPr>
              <a:t>Pubmed</a:t>
            </a:r>
            <a:br>
              <a:rPr b="0" i="0" lang="id-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id-ID" sz="1800" u="none" cap="none" strike="noStrike">
                <a:solidFill>
                  <a:srgbClr val="0C0C0C"/>
                </a:solidFill>
                <a:latin typeface="Encode Sans"/>
                <a:ea typeface="Encode Sans"/>
                <a:cs typeface="Encode Sans"/>
                <a:sym typeface="Encode Sans"/>
              </a:rPr>
              <a:t>Scopus</a:t>
            </a:r>
            <a:br>
              <a:rPr b="0" i="0" lang="id-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id-ID" sz="1800" u="none" cap="none" strike="noStrike">
                <a:solidFill>
                  <a:srgbClr val="0C0C0C"/>
                </a:solidFill>
                <a:latin typeface="Encode Sans"/>
                <a:ea typeface="Encode Sans"/>
                <a:cs typeface="Encode Sans"/>
                <a:sym typeface="Encode Sans"/>
              </a:rPr>
              <a:t>EBSCOhost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-ID" sz="1800" u="none" cap="none" strike="noStrike">
                <a:solidFill>
                  <a:srgbClr val="0C0C0C"/>
                </a:solidFill>
                <a:latin typeface="Encode Sans"/>
                <a:ea typeface="Encode Sans"/>
                <a:cs typeface="Encode Sans"/>
                <a:sym typeface="Encode Sans"/>
              </a:rPr>
              <a:t>ScienceDirect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-ID" sz="1800" u="none" cap="none" strike="noStrike">
                <a:solidFill>
                  <a:srgbClr val="0C0C0C"/>
                </a:solidFill>
                <a:latin typeface="Encode Sans"/>
                <a:ea typeface="Encode Sans"/>
                <a:cs typeface="Encode Sans"/>
                <a:sym typeface="Encode Sans"/>
              </a:rPr>
              <a:t>CENTRAL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C0C0C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-ID" sz="1800" u="none" cap="none" strike="noStrike">
                <a:solidFill>
                  <a:srgbClr val="0C0C0C"/>
                </a:solidFill>
                <a:latin typeface="Encode Sans"/>
                <a:ea typeface="Encode Sans"/>
                <a:cs typeface="Encode Sans"/>
                <a:sym typeface="Encode Sans"/>
              </a:rPr>
              <a:t>Quality Assessment:</a:t>
            </a:r>
            <a:endParaRPr b="1" i="0" sz="1800" u="none" cap="none" strike="noStrike">
              <a:solidFill>
                <a:srgbClr val="0C0C0C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-ID" sz="1800" u="none" cap="none" strike="noStrike">
                <a:solidFill>
                  <a:srgbClr val="0C0C0C"/>
                </a:solidFill>
                <a:latin typeface="Encode Sans"/>
                <a:ea typeface="Encode Sans"/>
                <a:cs typeface="Encode Sans"/>
                <a:sym typeface="Encode Sans"/>
              </a:rPr>
              <a:t>Cochrane Risk of Bias Tool 2.0</a:t>
            </a:r>
            <a:endParaRPr b="1" i="0" sz="1800" u="none" cap="none" strike="noStrike">
              <a:solidFill>
                <a:srgbClr val="0C0C0C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9073183" y="1278811"/>
            <a:ext cx="2743200" cy="646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d-ID" sz="1800" u="none" cap="none" strike="noStrike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Inclusion criteria: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b="0" i="0" lang="id-ID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9073183" y="3932355"/>
            <a:ext cx="2743200" cy="646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d-ID" sz="1800" u="none" cap="none" strike="noStrike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Exclusion criteria: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b="0" i="0" lang="id-ID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LOREM IPSUM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164347" y="2253302"/>
            <a:ext cx="1696500" cy="7188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31538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d-ID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PRISMA Statement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164346" y="3072810"/>
            <a:ext cx="1696500" cy="7188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31538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d-ID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Review Manager 5.4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178724" y="1304396"/>
            <a:ext cx="1696500" cy="8340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31538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d-ID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Systematic Review and Meta-analysis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164345" y="3877942"/>
            <a:ext cx="1696500" cy="7188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31538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-ID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Qualitative and Quantitative Analysis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164344" y="4740583"/>
            <a:ext cx="1696500" cy="7188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31538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d-ID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Inverse Variance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178721" y="5588847"/>
            <a:ext cx="1696500" cy="7188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31538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d-ID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Random Effects Model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914" y="578299"/>
            <a:ext cx="3604800" cy="644700"/>
          </a:xfrm>
          <a:prstGeom prst="chevron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4472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d-ID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285222" y="939760"/>
            <a:ext cx="3604800" cy="644700"/>
          </a:xfrm>
          <a:prstGeom prst="chevron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4472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d-ID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scale, device&#10;&#10;Description automatically generated"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41280" y="4878349"/>
            <a:ext cx="2121818" cy="14233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ble&#10;&#10;Description automatically generated" id="113" name="Google Shape;1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861" y="1769219"/>
            <a:ext cx="5710354" cy="2859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ble&#10;&#10;Description automatically generated" id="114" name="Google Shape;11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7354" y="667038"/>
            <a:ext cx="6038416" cy="25388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4724400" y="3200400"/>
            <a:ext cx="695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4"/>
          <p:cNvGrpSpPr/>
          <p:nvPr/>
        </p:nvGrpSpPr>
        <p:grpSpPr>
          <a:xfrm>
            <a:off x="6006863" y="3291012"/>
            <a:ext cx="3003900" cy="1503585"/>
            <a:chOff x="0" y="88453"/>
            <a:chExt cx="3003900" cy="1503585"/>
          </a:xfrm>
        </p:grpSpPr>
        <p:sp>
          <p:nvSpPr>
            <p:cNvPr id="117" name="Google Shape;117;p4"/>
            <p:cNvSpPr/>
            <p:nvPr/>
          </p:nvSpPr>
          <p:spPr>
            <a:xfrm>
              <a:off x="0" y="88453"/>
              <a:ext cx="3003900" cy="503700"/>
            </a:xfrm>
            <a:prstGeom prst="roundRect">
              <a:avLst>
                <a:gd fmla="val 16667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"/>
            <p:cNvSpPr txBox="1"/>
            <p:nvPr/>
          </p:nvSpPr>
          <p:spPr>
            <a:xfrm>
              <a:off x="24588" y="113041"/>
              <a:ext cx="2954700" cy="4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id-ID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OUTCOME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0" y="592138"/>
              <a:ext cx="3003900" cy="9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/>
            <p:cNvSpPr txBox="1"/>
            <p:nvPr/>
          </p:nvSpPr>
          <p:spPr>
            <a:xfrm>
              <a:off x="0" y="592138"/>
              <a:ext cx="3003900" cy="9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650" lIns="95350" spcFirstLastPara="1" rIns="149350" wrap="square" tIns="266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id-ID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LOREM IPSUM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picture containing timeline&#10;&#10;Description automatically generated" id="121" name="Google Shape;12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494" y="4877899"/>
            <a:ext cx="3163951" cy="141409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147525" y="1729325"/>
            <a:ext cx="5736300" cy="289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-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STUDY CHARACTERISTICS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47525" y="4878350"/>
            <a:ext cx="5736300" cy="114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-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FOREST PLOT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006875" y="688414"/>
            <a:ext cx="6038400" cy="245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-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STUDY OUTCOME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4"/>
          <p:cNvGrpSpPr/>
          <p:nvPr/>
        </p:nvGrpSpPr>
        <p:grpSpPr>
          <a:xfrm>
            <a:off x="9010663" y="3256574"/>
            <a:ext cx="3003900" cy="1503585"/>
            <a:chOff x="0" y="88453"/>
            <a:chExt cx="3003900" cy="1503585"/>
          </a:xfrm>
        </p:grpSpPr>
        <p:sp>
          <p:nvSpPr>
            <p:cNvPr id="126" name="Google Shape;126;p4"/>
            <p:cNvSpPr/>
            <p:nvPr/>
          </p:nvSpPr>
          <p:spPr>
            <a:xfrm>
              <a:off x="0" y="88453"/>
              <a:ext cx="3003900" cy="503700"/>
            </a:xfrm>
            <a:prstGeom prst="roundRect">
              <a:avLst>
                <a:gd fmla="val 16667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24588" y="113041"/>
              <a:ext cx="2954700" cy="4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id-ID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OUTCOME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0" y="592138"/>
              <a:ext cx="3003900" cy="9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0" y="592138"/>
              <a:ext cx="3003900" cy="9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650" lIns="95350" spcFirstLastPara="1" rIns="149350" wrap="square" tIns="266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id-ID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LOREM IPSUM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4"/>
          <p:cNvSpPr/>
          <p:nvPr/>
        </p:nvSpPr>
        <p:spPr>
          <a:xfrm>
            <a:off x="6477500" y="4879650"/>
            <a:ext cx="5385600" cy="142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-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RISK OF BIAS TABLE AND FUNNEL PLOT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285222" y="939760"/>
            <a:ext cx="3604800" cy="644700"/>
          </a:xfrm>
          <a:prstGeom prst="chevron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4472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d-ID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285222" y="939760"/>
            <a:ext cx="3604800" cy="644700"/>
          </a:xfrm>
          <a:prstGeom prst="chevron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4472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d-ID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10443975" y="4884875"/>
            <a:ext cx="1447800" cy="145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85222" y="802991"/>
            <a:ext cx="3829500" cy="781500"/>
          </a:xfrm>
          <a:prstGeom prst="chevron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4472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d-ID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and Recommendations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10360325" y="4436853"/>
            <a:ext cx="27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id-ID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252800" y="2292775"/>
            <a:ext cx="5469300" cy="46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980925" y="3197550"/>
            <a:ext cx="2332500" cy="46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821200" y="3197550"/>
            <a:ext cx="2332500" cy="46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661475" y="3197550"/>
            <a:ext cx="2332500" cy="46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424300" y="3973950"/>
            <a:ext cx="3126300" cy="46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424300" y="4750350"/>
            <a:ext cx="3126300" cy="46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7"/>
          <p:cNvCxnSpPr>
            <a:stCxn id="155" idx="2"/>
            <a:endCxn id="157" idx="0"/>
          </p:cNvCxnSpPr>
          <p:nvPr/>
        </p:nvCxnSpPr>
        <p:spPr>
          <a:xfrm>
            <a:off x="5987450" y="2755675"/>
            <a:ext cx="0" cy="44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" name="Google Shape;162;p7"/>
          <p:cNvCxnSpPr>
            <a:stCxn id="155" idx="2"/>
            <a:endCxn id="158" idx="0"/>
          </p:cNvCxnSpPr>
          <p:nvPr/>
        </p:nvCxnSpPr>
        <p:spPr>
          <a:xfrm>
            <a:off x="5987450" y="2755675"/>
            <a:ext cx="2840400" cy="44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7"/>
          <p:cNvCxnSpPr>
            <a:endCxn id="156" idx="0"/>
          </p:cNvCxnSpPr>
          <p:nvPr/>
        </p:nvCxnSpPr>
        <p:spPr>
          <a:xfrm flipH="1">
            <a:off x="3147175" y="2743350"/>
            <a:ext cx="2810700" cy="4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" name="Google Shape;164;p7"/>
          <p:cNvCxnSpPr>
            <a:stCxn id="157" idx="2"/>
            <a:endCxn id="159" idx="0"/>
          </p:cNvCxnSpPr>
          <p:nvPr/>
        </p:nvCxnSpPr>
        <p:spPr>
          <a:xfrm>
            <a:off x="5987450" y="3660450"/>
            <a:ext cx="0" cy="3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" name="Google Shape;165;p7"/>
          <p:cNvCxnSpPr>
            <a:endCxn id="159" idx="0"/>
          </p:cNvCxnSpPr>
          <p:nvPr/>
        </p:nvCxnSpPr>
        <p:spPr>
          <a:xfrm>
            <a:off x="3144050" y="3681450"/>
            <a:ext cx="2843400" cy="29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6" name="Google Shape;166;p7"/>
          <p:cNvCxnSpPr>
            <a:endCxn id="159" idx="0"/>
          </p:cNvCxnSpPr>
          <p:nvPr/>
        </p:nvCxnSpPr>
        <p:spPr>
          <a:xfrm flipH="1">
            <a:off x="5987450" y="3657150"/>
            <a:ext cx="2845200" cy="3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" name="Google Shape;167;p7"/>
          <p:cNvCxnSpPr>
            <a:stCxn id="159" idx="2"/>
            <a:endCxn id="160" idx="0"/>
          </p:cNvCxnSpPr>
          <p:nvPr/>
        </p:nvCxnSpPr>
        <p:spPr>
          <a:xfrm>
            <a:off x="5987450" y="4436850"/>
            <a:ext cx="0" cy="3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